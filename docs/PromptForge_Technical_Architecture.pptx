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PromptForge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3063240"/>
            <a:ext cx="3047695" cy="5486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38328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CCCCCC"/>
                </a:solidFill>
              </a:defRPr>
            </a:pPr>
            <a:r>
              <a:t>AI-Driven Prompt Engineering Platform — Technical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0" y="6784848"/>
            <a:ext cx="12191695" cy="73152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System Architecture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3657600" cy="457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3200400" cy="12344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73152" cy="12344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Nginx Reverse Proxy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66F1"/>
                </a:solidFill>
              </a:defRPr>
            </a:pPr>
            <a:r>
              <a:t>Port 3080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CCCCC"/>
                </a:solidFill>
              </a:defRPr>
            </a:pPr>
            <a:r>
              <a:t>Entry point &amp; routing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58768" y="1417320"/>
            <a:ext cx="3200400" cy="12344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58768" y="1417320"/>
            <a:ext cx="73152" cy="123444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41648" y="15087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React 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41648" y="18745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DD4BF"/>
                </a:solidFill>
              </a:defRPr>
            </a:pPr>
            <a:r>
              <a:t>59 Pages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41648" y="21945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CCCCC"/>
                </a:solidFill>
              </a:defRPr>
            </a:pPr>
            <a:r>
              <a:t>TypeScript, 16 sidebar sections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0336" y="1417320"/>
            <a:ext cx="3200400" cy="12344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260336" y="1417320"/>
            <a:ext cx="73152" cy="12344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43216" y="15087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Node.js Gateway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43216" y="18745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Port 4070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43216" y="21945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CCCCC"/>
                </a:solidFill>
              </a:defRPr>
            </a:pPr>
            <a:r>
              <a:t>API proxy, MCP, A2A, WebSocket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661904" y="1417320"/>
            <a:ext cx="3200400" cy="12344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661904" y="1417320"/>
            <a:ext cx="73152" cy="123444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844784" y="15087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Django Backend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44784" y="18745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C4899"/>
                </a:solidFill>
              </a:defRPr>
            </a:pPr>
            <a:r>
              <a:t>Port 8070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44784" y="21945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CCCCC"/>
                </a:solidFill>
              </a:defRPr>
            </a:pPr>
            <a:r>
              <a:t>REST API, 4 Django apps, JWT auth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2834640"/>
            <a:ext cx="3200400" cy="12344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7200" y="2834640"/>
            <a:ext cx="73152" cy="12344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29260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Celery Worker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2918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4 Workers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6118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CCCCC"/>
                </a:solidFill>
              </a:defRPr>
            </a:pPr>
            <a:r>
              <a:t>Async task processing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58768" y="2834640"/>
            <a:ext cx="3200400" cy="12344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858768" y="2834640"/>
            <a:ext cx="73152" cy="123444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41648" y="29260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PostgreSQL 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41648" y="32918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78BFA"/>
                </a:solidFill>
              </a:defRPr>
            </a:pPr>
            <a:r>
              <a:t>Port 5443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41648" y="36118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CCCCC"/>
                </a:solidFill>
              </a:defRPr>
            </a:pPr>
            <a:r>
              <a:t>20+ tables, main data store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60336" y="2834640"/>
            <a:ext cx="3200400" cy="12344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260336" y="2834640"/>
            <a:ext cx="73152" cy="123444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43216" y="29260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Redis 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43216" y="32918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F4444"/>
                </a:solidFill>
              </a:defRPr>
            </a:pPr>
            <a:r>
              <a:t>Port 6390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43216" y="36118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CCCCC"/>
                </a:solidFill>
              </a:defRPr>
            </a:pPr>
            <a:r>
              <a:t>Cache, Celery broker, sessions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i="1">
                <a:solidFill>
                  <a:srgbClr val="9999AA"/>
                </a:solidFill>
              </a:defRPr>
            </a:pPr>
            <a:r>
              <a:t>All services orchestrated via Docker Compose with inter-service networking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Data Flow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3657600" cy="457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12801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999AA"/>
                </a:solidFill>
              </a:defRPr>
            </a:pPr>
            <a:r>
              <a:t>CLIENT 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" y="22860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999AA"/>
                </a:solidFill>
              </a:defRPr>
            </a:pPr>
            <a:r>
              <a:t>PROXY TIER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" y="34290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999AA"/>
                </a:solidFill>
              </a:defRPr>
            </a:pPr>
            <a:r>
              <a:t>APPLICATION TIER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" y="45720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999AA"/>
                </a:solidFill>
              </a:defRPr>
            </a:pPr>
            <a:r>
              <a:t>SERVICE TIER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" y="57150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999AA"/>
                </a:solidFill>
              </a:defRPr>
            </a:pPr>
            <a:r>
              <a:t>DATA TIER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84624" y="1234440"/>
            <a:ext cx="2011680" cy="640080"/>
          </a:xfrm>
          <a:prstGeom prst="roundRect">
            <a:avLst/>
          </a:prstGeom>
          <a:solidFill>
            <a:srgbClr val="374751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Browser / Client</a:t>
            </a:r>
          </a:p>
        </p:txBody>
      </p:sp>
      <p:sp>
        <p:nvSpPr>
          <p:cNvPr id="10" name="Down Arrow 9"/>
          <p:cNvSpPr/>
          <p:nvPr/>
        </p:nvSpPr>
        <p:spPr>
          <a:xfrm>
            <a:off x="4953304" y="1892808"/>
            <a:ext cx="274320" cy="320040"/>
          </a:xfrm>
          <a:prstGeom prst="downArrow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084624" y="2194560"/>
            <a:ext cx="2011680" cy="6400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Nginx  :3080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3017520" y="2852928"/>
            <a:ext cx="274320" cy="320040"/>
          </a:xfrm>
          <a:prstGeom prst="downArrow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wn Arrow 12"/>
          <p:cNvSpPr/>
          <p:nvPr/>
        </p:nvSpPr>
        <p:spPr>
          <a:xfrm>
            <a:off x="7406640" y="2852928"/>
            <a:ext cx="274320" cy="320040"/>
          </a:xfrm>
          <a:prstGeom prst="down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 flipH="1">
            <a:off x="3154680" y="2834640"/>
            <a:ext cx="1661464" cy="45720"/>
          </a:xfrm>
          <a:prstGeom prst="line">
            <a:avLst/>
          </a:prstGeom>
          <a:ln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364784" y="2834640"/>
            <a:ext cx="2179016" cy="45720"/>
          </a:xfrm>
          <a:prstGeom prst="line">
            <a:avLst/>
          </a:prstGeom>
          <a:ln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011680" y="3154680"/>
            <a:ext cx="2011680" cy="6400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React Frontend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3154680"/>
            <a:ext cx="2011680" cy="6400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Node.js Gateway  :4070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7360920" y="3813048"/>
            <a:ext cx="274320" cy="320040"/>
          </a:xfrm>
          <a:prstGeom prst="downArrow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0" y="4297680"/>
            <a:ext cx="2560320" cy="6400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Django Backend  :8070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2286000.0" y="4937760"/>
            <a:ext cx="5212080.0" cy="640080"/>
          </a:xfrm>
          <a:prstGeom prst="line">
            <a:avLst/>
          </a:prstGeom>
          <a:ln w="2540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371600" y="5577840"/>
            <a:ext cx="1828800" cy="5943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PostgreSQL 16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4754880.0" y="4937760"/>
            <a:ext cx="2743200.0" cy="640080"/>
          </a:xfrm>
          <a:prstGeom prst="line">
            <a:avLst/>
          </a:prstGeom>
          <a:ln w="25400"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840480" y="5577840"/>
            <a:ext cx="1828800" cy="5943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Redis 7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7223760.0" y="4937760"/>
            <a:ext cx="274320.0" cy="64008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309360" y="5577840"/>
            <a:ext cx="1828800" cy="5943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Celery Workers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498080.0" y="4937760"/>
            <a:ext cx="2194560.0" cy="640080"/>
          </a:xfrm>
          <a:prstGeom prst="line">
            <a:avLst/>
          </a:prstGeom>
          <a:ln w="2540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778240" y="5577840"/>
            <a:ext cx="1828800" cy="5943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OpenAI / Anthropic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Platform Features (59 Tools)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22960"/>
            <a:ext cx="3657600" cy="457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1124712"/>
            <a:ext cx="109728" cy="109728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D4BF"/>
                </a:solidFill>
              </a:defRPr>
            </a:pPr>
            <a:r>
              <a:t>Prompt Features (6)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9844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CCCCC"/>
                </a:solidFill>
              </a:defRPr>
            </a:pPr>
            <a:r>
              <a:t>Feedback Analysis, Meeting Summarizer, Quiz Generator, Slide Scripts, Complaint Response, Custom Prompt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728216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2763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Advanced (8)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0195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CCCCC"/>
                </a:solidFill>
              </a:defRPr>
            </a:pPr>
            <a:r>
              <a:t>Prompt Grader, A/B Tester, Schema Enforcer, Self-Correcting, Quality Gates, Decomposition, Injection Tester, Few-Shot Builder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331720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231136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Knowledge (3)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05456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CCCCC"/>
                </a:solidFill>
              </a:defRPr>
            </a:pPr>
            <a:r>
              <a:t>Expert Panel, Document Q&amp;A, Compliance Checker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2935224"/>
            <a:ext cx="109728" cy="109728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83464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C4899"/>
                </a:solidFill>
              </a:defRPr>
            </a:pPr>
            <a:r>
              <a:t>Specialized (3)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1089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CCCCC"/>
                </a:solidFill>
              </a:defRPr>
            </a:pPr>
            <a:r>
              <a:t>Tone Transformer, Misconception Detector, CoT Visualizer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353872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438144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Extended (3)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712464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CCCCC"/>
                </a:solidFill>
              </a:defRPr>
            </a:pPr>
            <a:r>
              <a:t>RAG Simulator, Scenario Simulator, Localizer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4142232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04164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</a:defRPr>
            </a:pPr>
            <a:r>
              <a:t>Reasoning (3)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31596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CCCCC"/>
                </a:solidFill>
              </a:defRPr>
            </a:pPr>
            <a:r>
              <a:t>Self-Consistency, Tree of Thoughts, Reflection Loop</a:t>
            </a:r>
          </a:p>
        </p:txBody>
      </p:sp>
      <p:sp>
        <p:nvSpPr>
          <p:cNvPr id="22" name="Oval 21"/>
          <p:cNvSpPr/>
          <p:nvPr/>
        </p:nvSpPr>
        <p:spPr>
          <a:xfrm>
            <a:off x="457200" y="4745736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64515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Agent Patterns (3)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91947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CCCCC"/>
                </a:solidFill>
              </a:defRPr>
            </a:pPr>
            <a:r>
              <a:t>ReAct Agent, Role Designer, Coordinator</a:t>
            </a:r>
          </a:p>
        </p:txBody>
      </p:sp>
      <p:sp>
        <p:nvSpPr>
          <p:cNvPr id="25" name="Oval 24"/>
          <p:cNvSpPr/>
          <p:nvPr/>
        </p:nvSpPr>
        <p:spPr>
          <a:xfrm>
            <a:off x="457200" y="5349240"/>
            <a:ext cx="109728" cy="10972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248656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D3EE"/>
                </a:solidFill>
              </a:defRPr>
            </a:pPr>
            <a:r>
              <a:t>Auto-Optimization (3)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522976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CCCCC"/>
                </a:solidFill>
              </a:defRPr>
            </a:pPr>
            <a:r>
              <a:t>APE Studio, Prompt Evolution, Meta Prompt</a:t>
            </a:r>
          </a:p>
        </p:txBody>
      </p:sp>
      <p:sp>
        <p:nvSpPr>
          <p:cNvPr id="28" name="Oval 27"/>
          <p:cNvSpPr/>
          <p:nvPr/>
        </p:nvSpPr>
        <p:spPr>
          <a:xfrm>
            <a:off x="6309360" y="1124712"/>
            <a:ext cx="109728" cy="109728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102412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BF24"/>
                </a:solidFill>
              </a:defRPr>
            </a:pPr>
            <a:r>
              <a:t>Safety (2)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129844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CCCCC"/>
                </a:solidFill>
              </a:defRPr>
            </a:pPr>
            <a:r>
              <a:t>Guardrail Builder, Self-Verification</a:t>
            </a:r>
          </a:p>
        </p:txBody>
      </p:sp>
      <p:sp>
        <p:nvSpPr>
          <p:cNvPr id="31" name="Oval 30"/>
          <p:cNvSpPr/>
          <p:nvPr/>
        </p:nvSpPr>
        <p:spPr>
          <a:xfrm>
            <a:off x="6309360" y="1728216"/>
            <a:ext cx="109728" cy="109728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162763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D4BF"/>
                </a:solidFill>
              </a:defRPr>
            </a:pPr>
            <a:r>
              <a:t>Context &amp; Memory (2)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190195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CCCCC"/>
                </a:solidFill>
              </a:defRPr>
            </a:pPr>
            <a:r>
              <a:t>Context Packing, Memory-Aware</a:t>
            </a:r>
          </a:p>
        </p:txBody>
      </p:sp>
      <p:sp>
        <p:nvSpPr>
          <p:cNvPr id="34" name="Oval 33"/>
          <p:cNvSpPr/>
          <p:nvPr/>
        </p:nvSpPr>
        <p:spPr>
          <a:xfrm>
            <a:off x="6309360" y="2331720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2231136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Learning Hub (4)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2505456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CCCCC"/>
                </a:solidFill>
              </a:defRPr>
            </a:pPr>
            <a:r>
              <a:t>Tutorials, Challenges, Technique Library, Before/After</a:t>
            </a:r>
          </a:p>
        </p:txBody>
      </p:sp>
      <p:sp>
        <p:nvSpPr>
          <p:cNvPr id="37" name="Oval 36"/>
          <p:cNvSpPr/>
          <p:nvPr/>
        </p:nvSpPr>
        <p:spPr>
          <a:xfrm>
            <a:off x="6309360" y="2935224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283464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Workspace (4)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31089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CCCCC"/>
                </a:solidFill>
              </a:defRPr>
            </a:pPr>
            <a:r>
              <a:t>Projects, Version History, Prompt Diff, Favorites</a:t>
            </a:r>
          </a:p>
        </p:txBody>
      </p:sp>
      <p:sp>
        <p:nvSpPr>
          <p:cNvPr id="40" name="Oval 39"/>
          <p:cNvSpPr/>
          <p:nvPr/>
        </p:nvSpPr>
        <p:spPr>
          <a:xfrm>
            <a:off x="6309360" y="3538728"/>
            <a:ext cx="109728" cy="109728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92240" y="3438144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C4899"/>
                </a:solidFill>
              </a:defRPr>
            </a:pPr>
            <a:r>
              <a:t>Testing (4)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3712464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CCCCC"/>
                </a:solidFill>
              </a:defRPr>
            </a:pPr>
            <a:r>
              <a:t>Test Suites, Batch Evaluation, Benchmark, Consistency</a:t>
            </a:r>
          </a:p>
        </p:txBody>
      </p:sp>
      <p:sp>
        <p:nvSpPr>
          <p:cNvPr id="43" name="Oval 42"/>
          <p:cNvSpPr/>
          <p:nvPr/>
        </p:nvSpPr>
        <p:spPr>
          <a:xfrm>
            <a:off x="6309360" y="4142232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92240" y="404164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Production (4)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40" y="431596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CCCCC"/>
                </a:solidFill>
              </a:defRPr>
            </a:pPr>
            <a:r>
              <a:t>Export Pack, Code Snippets, Cost Optimizer, Model Comparison</a:t>
            </a:r>
          </a:p>
        </p:txBody>
      </p:sp>
      <p:sp>
        <p:nvSpPr>
          <p:cNvPr id="46" name="Oval 45"/>
          <p:cNvSpPr/>
          <p:nvPr/>
        </p:nvSpPr>
        <p:spPr>
          <a:xfrm>
            <a:off x="6309360" y="4745736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92240" y="464515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</a:defRPr>
            </a:pPr>
            <a:r>
              <a:t>Community (2)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2240" y="491947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CCCCC"/>
                </a:solidFill>
              </a:defRPr>
            </a:pPr>
            <a:r>
              <a:t>Prompt Gallery, Account</a:t>
            </a:r>
          </a:p>
        </p:txBody>
      </p:sp>
      <p:sp>
        <p:nvSpPr>
          <p:cNvPr id="49" name="Oval 48"/>
          <p:cNvSpPr/>
          <p:nvPr/>
        </p:nvSpPr>
        <p:spPr>
          <a:xfrm>
            <a:off x="6309360" y="5349240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92240" y="5248656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System (4)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0" y="5522976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CCCCC"/>
                </a:solidFill>
              </a:defRPr>
            </a:pPr>
            <a:r>
              <a:t>Template Library, Multi-Agent, MCP Explorer, Execution History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3657600" cy="457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25880"/>
            <a:ext cx="11277295" cy="658368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64008" cy="658368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9903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D4BF"/>
                </a:solidFill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399032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React 19, TypeScript, Axios, CSS Variables (dark theme)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93976"/>
            <a:ext cx="11277295" cy="658368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2093976"/>
            <a:ext cx="64008" cy="658368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6712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C4899"/>
                </a:solidFill>
              </a:defRPr>
            </a:pPr>
            <a: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167128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Python 3.11, Django 5.x, Django REST Framework, Celery, Gunicorn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862072"/>
            <a:ext cx="11277295" cy="658368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2862072"/>
            <a:ext cx="64008" cy="65836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935224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Gateway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935224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Node.js, Express.js, MCP Protocol, A2A Protocol, WebSocket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630168"/>
            <a:ext cx="11277295" cy="658368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" y="3630168"/>
            <a:ext cx="64008" cy="658368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7033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78BFA"/>
                </a:solidFill>
              </a:defRPr>
            </a:pPr>
            <a:r>
              <a:t>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703320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PostgreSQL 16, Redis 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398264"/>
            <a:ext cx="11277295" cy="658368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7200" y="4398264"/>
            <a:ext cx="64008" cy="65836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47141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Infrastructure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471416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Docker Compose, Nginx, WhiteNoise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166360"/>
            <a:ext cx="11277295" cy="658368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7200" y="5166360"/>
            <a:ext cx="64008" cy="658368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23951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Authentication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5239512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JWT (SimpleJWT), refresh token rotation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934456"/>
            <a:ext cx="11277295" cy="658368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57200" y="5934456"/>
            <a:ext cx="64008" cy="658368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600760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D3EE"/>
                </a:solidFill>
              </a:defRPr>
            </a:pPr>
            <a:r>
              <a:t>AI Providers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6007608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OpenAI (GPT-4o, GPT-4o-mini, GPT-4-turbo), Anthropic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Backend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3657600" cy="457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999AA"/>
                </a:solidFill>
              </a:defRPr>
            </a:pPr>
            <a:r>
              <a:t>4 Django Applications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5394960" cy="23774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394960" cy="54864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DD4BF"/>
                </a:solidFill>
                <a:latin typeface="Consolas"/>
              </a:defRPr>
            </a:pPr>
            <a:r>
              <a:t>promptengine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317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Core Prompt Execution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9748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CCCCCC"/>
                </a:solidFill>
              </a:defRPr>
            </a:pPr>
            <a:r>
              <a:t>•  35+ system prompts with structured templates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CCCCCC"/>
                </a:solidFill>
              </a:defRPr>
            </a:pPr>
            <a:r>
              <a:t>•  Template library management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CCCCCC"/>
                </a:solidFill>
              </a:defRPr>
            </a:pPr>
            <a:r>
              <a:t>•  Execution history &amp; tracking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CCCCCC"/>
                </a:solidFill>
              </a:defRPr>
            </a:pPr>
            <a:r>
              <a:t>•  Multi-model provider support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1828800"/>
            <a:ext cx="5394960" cy="23774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80760" y="1828800"/>
            <a:ext cx="5394960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9659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59E0B"/>
                </a:solidFill>
                <a:latin typeface="Consolas"/>
              </a:defRPr>
            </a:pPr>
            <a:r>
              <a:t>agents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3317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Multi-Agent Workflows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69748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CCCCCC"/>
                </a:solidFill>
              </a:defRPr>
            </a:pPr>
            <a:r>
              <a:t>•  Agent orchestration &amp; coordination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CCCCCC"/>
                </a:solidFill>
              </a:defRPr>
            </a:pPr>
            <a:r>
              <a:t>•  ReAct agent pattern implementation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CCCCCC"/>
                </a:solidFill>
              </a:defRPr>
            </a:pPr>
            <a:r>
              <a:t>•  Role-based agent design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CCCCCC"/>
                </a:solidFill>
              </a:defRPr>
            </a:pPr>
            <a:r>
              <a:t>•  Inter-agent communication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389120"/>
            <a:ext cx="5394960" cy="23774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4389120"/>
            <a:ext cx="5394960" cy="54864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5262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C4899"/>
                </a:solidFill>
                <a:latin typeface="Consolas"/>
              </a:defRPr>
            </a:pPr>
            <a:r>
              <a:t>analytics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8920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Dashboard &amp; Analytics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25780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CCCCCC"/>
                </a:solidFill>
              </a:defRPr>
            </a:pPr>
            <a:r>
              <a:t>•  Dashboard statistics &amp; metrics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CCCCCC"/>
                </a:solidFill>
              </a:defRPr>
            </a:pPr>
            <a:r>
              <a:t>•  Cost analysis per model/provider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CCCCCC"/>
                </a:solidFill>
              </a:defRPr>
            </a:pPr>
            <a:r>
              <a:t>•  Usage tracking &amp; reporting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CCCCCC"/>
                </a:solidFill>
              </a:defRPr>
            </a:pPr>
            <a:r>
              <a:t>•  Performance benchmarking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0760" y="4389120"/>
            <a:ext cx="5394960" cy="23774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080760" y="4389120"/>
            <a:ext cx="5394960" cy="54864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45262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A78BFA"/>
                </a:solidFill>
                <a:latin typeface="Consolas"/>
              </a:defRPr>
            </a:pPr>
            <a:r>
              <a:t>prompt_platform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8920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Platform Services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525780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CCCCCC"/>
                </a:solidFill>
              </a:defRPr>
            </a:pPr>
            <a:r>
              <a:t>•  User auth, registration, profiles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CCCCCC"/>
                </a:solidFill>
              </a:defRPr>
            </a:pPr>
            <a:r>
              <a:t>•  Projects &amp; workspace management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CCCCCC"/>
                </a:solidFill>
              </a:defRPr>
            </a:pPr>
            <a:r>
              <a:t>•  Test suites &amp; batch evaluation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CCCCCC"/>
                </a:solidFill>
              </a:defRPr>
            </a:pPr>
            <a:r>
              <a:t>•  Tutorials, challenges, community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Security &amp; Authentication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3657600" cy="457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1277295" cy="9601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64008" cy="9601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444752"/>
            <a:ext cx="548640" cy="54864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3258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JWT Token Authentication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627632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CCCCC"/>
                </a:solidFill>
              </a:defRPr>
            </a:pPr>
            <a:r>
              <a:t>12-hour access tokens with 7-day refresh token rotation.</a:t>
            </a:r>
            <a:br/>
            <a:r>
              <a:t>Secure HttpOnly cookie storage with automatic renewal.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350008"/>
            <a:ext cx="11277295" cy="9601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2350008"/>
            <a:ext cx="64008" cy="96012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2514600"/>
            <a:ext cx="548640" cy="54864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🛡️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395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Password &amp; Account 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69748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CCCCC"/>
                </a:solidFill>
              </a:defRPr>
            </a:pPr>
            <a:r>
              <a:t>Password change requires current password verification.</a:t>
            </a:r>
            <a:br/>
            <a:r>
              <a:t>Account deletion requires password + explicit confirmation.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419856"/>
            <a:ext cx="11277295" cy="9601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" y="3419856"/>
            <a:ext cx="64008" cy="9601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3584448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46557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Rate Limiting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76732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CCCCC"/>
                </a:solidFill>
              </a:defRPr>
            </a:pPr>
            <a:r>
              <a:t>Anonymous: 30 requests/minute.</a:t>
            </a:r>
            <a:br/>
            <a:r>
              <a:t>Authenticated: 120 requests/minute.</a:t>
            </a:r>
            <a:br/>
            <a:r>
              <a:t>Prevents abuse and ensures fair resource allocation.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489704"/>
            <a:ext cx="11277295" cy="9601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200" y="4489704"/>
            <a:ext cx="64008" cy="96012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4654296"/>
            <a:ext cx="548640" cy="5486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535424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CORS &amp; Network Security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837176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CCCCC"/>
                </a:solidFill>
              </a:defRPr>
            </a:pPr>
            <a:r>
              <a:t>Strict CORS origin configuration.</a:t>
            </a:r>
            <a:br/>
            <a:r>
              <a:t>Nginx reverse proxy with SSL-ready architecture.</a:t>
            </a:r>
            <a:br/>
            <a:r>
              <a:t>Inter-service communication on isolated Docker network.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559552"/>
            <a:ext cx="11277295" cy="9601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7200" y="5559552"/>
            <a:ext cx="64008" cy="96012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1520" y="5724144"/>
            <a:ext cx="548640" cy="54864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6052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User Profile Management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5907024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CCCCC"/>
                </a:solidFill>
              </a:defRPr>
            </a:pPr>
            <a:r>
              <a:t>Profile picture storage using base64 encoding.</a:t>
            </a:r>
            <a:br/>
            <a:r>
              <a:t>Secure user data handling with Django ORM.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